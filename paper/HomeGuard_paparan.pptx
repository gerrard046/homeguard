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468880"/>
            <a:ext cx="12191695" cy="73152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9FB3D1"/>
                </a:solidFill>
                <a:latin typeface="Calibri"/>
              </a:rPr>
              <a:t>POLITEKNIK SIBER DAN SANDI NEGARA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HomeGuard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CFDDF0"/>
                </a:solidFill>
                <a:latin typeface="Calibri"/>
              </a:rPr>
              <a:t>Pengembangan Aplikasi Pemindai Keamanan Jaringan Rumah untuk Identifikasi Kerentanan Perangkat IoT pada Jaringan Wi-Fi Domestik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1A9E5A"/>
                </a:solidFill>
                <a:latin typeface="Calibri"/>
              </a:rPr>
              <a:t>Prototipe pemindai keamanan IoT berbasis OWASP IoT Top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Reiza Gerrard Rizki Ramadhan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9FB3D1"/>
                </a:solidFill>
                <a:latin typeface="Calibri"/>
              </a:rPr>
              <a:t>Paparan Tugas Akhir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630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Latar Belakang &amp; Permasalahan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50292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Tujuan Penelitian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0292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6616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Arsitektur Aplikasi (Pipeline 4 Modul)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50292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177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Cara Kerja Sistem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502920" cy="50292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4630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Evolusi Prototipe (Awal → Saat Ini)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514600"/>
            <a:ext cx="502920" cy="50292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5146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Justifikasi &amp; Diferensiasi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566160"/>
            <a:ext cx="502920" cy="50292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56616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Pengujian &amp; Hasil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617720"/>
            <a:ext cx="502920" cy="50292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177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177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333A45"/>
                </a:solidFill>
                <a:latin typeface="Calibri"/>
              </a:rPr>
              <a:t>Demo, Kesimpulan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Latar Belakang &amp; Permasalahan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•  </a:t>
            </a:r>
            <a:r>
              <a:rPr sz="1800">
                <a:solidFill>
                  <a:srgbClr val="333A45"/>
                </a:solidFill>
                <a:latin typeface="Calibri"/>
              </a:rPr>
              <a:t>Perangkat IoT rumahan (kamera CCTV, router, smart TV) tumbuh pesat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•  </a:t>
            </a:r>
            <a:r>
              <a:rPr sz="1800">
                <a:solidFill>
                  <a:srgbClr val="333A45"/>
                </a:solidFill>
                <a:latin typeface="Calibri"/>
              </a:rPr>
              <a:t>Sering dikirim dengan konfigurasi default tidak aman:</a:t>
            </a:r>
          </a:p>
          <a:p>
            <a:pPr lvl="1">
              <a:spcAft>
                <a:spcPts val="12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–  </a:t>
            </a:r>
            <a:r>
              <a:rPr sz="1600">
                <a:solidFill>
                  <a:srgbClr val="333A45"/>
                </a:solidFill>
                <a:latin typeface="Calibri"/>
              </a:rPr>
              <a:t>port manajemen terbuka (Telnet, UPnP)</a:t>
            </a:r>
          </a:p>
          <a:p>
            <a:pPr lvl="1">
              <a:spcAft>
                <a:spcPts val="12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–  </a:t>
            </a:r>
            <a:r>
              <a:rPr sz="1600">
                <a:solidFill>
                  <a:srgbClr val="333A45"/>
                </a:solidFill>
                <a:latin typeface="Calibri"/>
              </a:rPr>
              <a:t>kredensial bawaan admin/admin</a:t>
            </a:r>
          </a:p>
          <a:p>
            <a:pPr lvl="1">
              <a:spcAft>
                <a:spcPts val="12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–  </a:t>
            </a:r>
            <a:r>
              <a:rPr sz="1600">
                <a:solidFill>
                  <a:srgbClr val="333A45"/>
                </a:solidFill>
                <a:latin typeface="Calibri"/>
              </a:rPr>
              <a:t>protokol &amp; enkripsi lemah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•  </a:t>
            </a:r>
            <a:r>
              <a:rPr sz="1800">
                <a:solidFill>
                  <a:srgbClr val="333A45"/>
                </a:solidFill>
                <a:latin typeface="Calibri"/>
              </a:rPr>
              <a:t>Dieksploitasi botnet seperti Mirai (port 23/2323)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•  </a:t>
            </a:r>
            <a:r>
              <a:rPr sz="1800">
                <a:solidFill>
                  <a:srgbClr val="333A45"/>
                </a:solidFill>
                <a:latin typeface="Calibri"/>
              </a:rPr>
              <a:t>Pengguna awam tidak punya alat yang mudah, lokal, &amp; edukatif untuk memeriksa keamanannya sendiri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3931920" cy="2103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9164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D13333"/>
                </a:solidFill>
                <a:latin typeface="Calibri"/>
              </a:rPr>
              <a:t>Mirai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35661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Membajak ratusan ribu perangkat IoT lewat kredensial default — studi kasus utama pada paper 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749039"/>
            <a:ext cx="3931920" cy="210312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977639"/>
            <a:ext cx="35661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Celah: alat keamanan IoT yang ada umumnya berbayar, berbasis cloud, atau terlalu teknis untuk pengguna rumahan.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Tujuan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41148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164592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429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2E86DE"/>
                </a:solidFill>
                <a:latin typeface="Calibri"/>
              </a:rPr>
              <a:t>Membangun prototipe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333A45"/>
                </a:solidFill>
                <a:latin typeface="Calibri"/>
              </a:rPr>
              <a:t>Pemindai keamanan jaringan rumah berbasis Python dengan pustaka standar (tanpa root, tanpa dependensi wajib)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429000" cy="41148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1A9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429000" cy="164592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429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1A9E5A"/>
                </a:solidFill>
                <a:latin typeface="Calibri"/>
              </a:rPr>
              <a:t>Memetakan ke OWASP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333A45"/>
                </a:solidFill>
                <a:latin typeface="Calibri"/>
              </a:rPr>
              <a:t>Mengaitkan temuan ke OWASP IoT Top 10 (2018) dan menghitung skor risiko 0–100 yang mudah dipahami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429000" cy="41148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429000" cy="164592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429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E08A1E"/>
                </a:solidFill>
                <a:latin typeface="Calibri"/>
              </a:rPr>
              <a:t>Edukatif &amp; lokal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333A45"/>
                </a:solidFill>
                <a:latin typeface="Calibri"/>
              </a:rPr>
              <a:t>Memberi pengguna awam laporan jelas berbahasa Indonesia, berjalan lokal demi privasi (tanpa cloud)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Arsitektur: Pipeline 4 Modul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Calibri"/>
              </a:rPr>
              <a:t>Empat modul berurutan — keluaran satu modul menjadi masukan berikutnya (seperti ban berjalan):</a:t>
            </a:r>
          </a:p>
        </p:txBody>
      </p:sp>
      <p:pic>
        <p:nvPicPr>
          <p:cNvPr id="7" name="Picture 6" descr="diagra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0515600" cy="35069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Inti pemindaian hanya memakai pustaka standar Python — modul lanjutan (UDP, kredensial, TLS) bersifat opt-in.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Cara Kerja Tiap Modul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868680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868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325880"/>
            <a:ext cx="9646920" cy="10515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435607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2E86DE"/>
                </a:solidFill>
                <a:latin typeface="Calibri"/>
              </a:rPr>
              <a:t>Network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74519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A45"/>
                </a:solidFill>
                <a:latin typeface="Calibri"/>
              </a:rPr>
              <a:t>TCP ping (tanpa root) • parsing tabel ARP • lookup vendor dari MAC/OUI • ekspansi subnet CIDR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39"/>
            <a:ext cx="868680" cy="105156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39"/>
            <a:ext cx="868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2606039"/>
            <a:ext cx="9646920" cy="10515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715767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9E5A"/>
                </a:solidFill>
                <a:latin typeface="Calibri"/>
              </a:rPr>
              <a:t>Port Scanning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54679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A45"/>
                </a:solidFill>
                <a:latin typeface="Calibri"/>
              </a:rPr>
              <a:t>TCP connect paralel (ThreadPool) • probe UDP SSDP &amp; mDNS • Nmap opsional dengan fallback 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868680" cy="105156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868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3886200"/>
            <a:ext cx="9646920" cy="10515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99592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8A1E"/>
                </a:solidFill>
                <a:latin typeface="Calibri"/>
              </a:rPr>
              <a:t>Service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34840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A45"/>
                </a:solidFill>
                <a:latin typeface="Calibri"/>
              </a:rPr>
              <a:t>Banner grabbing HTTP/Telnet/FTP/RTSP • deteksi versi • klasifikasi tipe perangkat (kamera/router/printer/NAS)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6359"/>
            <a:ext cx="868680" cy="1051560"/>
          </a:xfrm>
          <a:prstGeom prst="roundRect">
            <a:avLst/>
          </a:prstGeom>
          <a:solidFill>
            <a:srgbClr val="D1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66359"/>
            <a:ext cx="868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83080" y="5166359"/>
            <a:ext cx="9646920" cy="10515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5276087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D13333"/>
                </a:solidFill>
                <a:latin typeface="Calibri"/>
              </a:rPr>
              <a:t>OWASP Mapping + Skor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714999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A45"/>
                </a:solidFill>
                <a:latin typeface="Calibri"/>
              </a:rPr>
              <a:t>Petakan temuan ke I1–I10 • cek kredensial bawaan, TLS, header • skor risiko = min(100, B_max + 3×n)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Skor Risiko &amp; Tingkat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554480"/>
            <a:ext cx="7772400" cy="12801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1A9E5A"/>
                </a:solidFill>
                <a:latin typeface="Consolas"/>
              </a:rPr>
              <a:t>Skor = min(100,  B_max + 3 × 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88036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CFDDF0"/>
                </a:solidFill>
                <a:latin typeface="Calibri"/>
              </a:rPr>
              <a:t>B_max = skor dasar severity tertinggi   •   n = jumlah temuan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011680" cy="155448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4114800"/>
            <a:ext cx="2011680" cy="155448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43434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RENDAH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8920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114800"/>
            <a:ext cx="2011680" cy="155448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3434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SEDANG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8920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114800"/>
            <a:ext cx="2011680" cy="1554480"/>
          </a:xfrm>
          <a:prstGeom prst="roundRect">
            <a:avLst/>
          </a:prstGeom>
          <a:solidFill>
            <a:srgbClr val="E0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3434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920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75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114800"/>
            <a:ext cx="2011680" cy="1554480"/>
          </a:xfrm>
          <a:prstGeom prst="roundRect">
            <a:avLst/>
          </a:prstGeom>
          <a:solidFill>
            <a:srgbClr val="D1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43434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KRITIS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8920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9FB3D1"/>
                </a:solidFill>
                <a:latin typeface="Calibri"/>
              </a:rPr>
              <a:t>Banner usang menambah kategori I5 dan menaikkan severity satu tingkat.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Evolusi Prototipe: Awal → Saat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6400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VERSI AWAL (Prototipe M1)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20640" cy="64008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SAAT INI (M12)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120640" cy="548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TCP connect saja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5120640" cy="5486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333A45"/>
                </a:solidFill>
                <a:latin typeface="Calibri"/>
              </a:rPr>
              <a:t>TCP + UDP (SSDP/UPnP, mDNS)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06624"/>
            <a:ext cx="51206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06624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Risiko dari port saja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706624"/>
            <a:ext cx="51206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06624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333A45"/>
                </a:solidFill>
                <a:latin typeface="Calibri"/>
              </a:rPr>
              <a:t>Port + kredensial + TLS + header HTTP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10128"/>
            <a:ext cx="5120640" cy="548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1012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IP + MAC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10128"/>
            <a:ext cx="5120640" cy="5486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1012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333A45"/>
                </a:solidFill>
                <a:latin typeface="Calibri"/>
              </a:rPr>
              <a:t>+ vendor OUI + tipe perangkat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13631"/>
            <a:ext cx="51206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13631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OWASP I1/I2/I5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13631"/>
            <a:ext cx="51206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913631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333A45"/>
                </a:solidFill>
                <a:latin typeface="Calibri"/>
              </a:rPr>
              <a:t>OWASP I1–I10 lengkap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17136"/>
            <a:ext cx="5120640" cy="548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17136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Laporan 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17136"/>
            <a:ext cx="5120640" cy="5486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517136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333A45"/>
                </a:solidFill>
                <a:latin typeface="Calibri"/>
              </a:rPr>
              <a:t>JSON + PDF + ringkasan OWASP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51206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CLI dasar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120640"/>
            <a:ext cx="51206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12064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333A45"/>
                </a:solidFill>
                <a:latin typeface="Calibri"/>
              </a:rPr>
              <a:t>CLI berwarna + web Streamlit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724144"/>
            <a:ext cx="5120640" cy="54864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24144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~600 baris • 12 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724144"/>
            <a:ext cx="5120640" cy="5486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724144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333A45"/>
                </a:solidFill>
                <a:latin typeface="Calibri"/>
              </a:rPr>
              <a:t>~2.287 baris • 36 tes +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Filosofi tetap: tanpa root, tanpa dependensi wajib, hanya jaringan sendiri — kedalaman analisis yang bertambah.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Contoh Nyata: Kamera IP dengan Telnet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6B7280"/>
                </a:solidFill>
                <a:latin typeface="Calibri"/>
              </a:rPr>
              <a:t>M1 (Awal)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333A45"/>
                </a:solidFill>
                <a:latin typeface="Calibri"/>
              </a:rPr>
              <a:t>Terdeteksi port 2323 terbuka → kategori I1, severity TINGGI (hanya dari port).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206240"/>
          </a:xfrm>
          <a:prstGeom prst="roundRect">
            <a:avLst/>
          </a:prstGeom>
          <a:solidFill>
            <a:srgbClr val="0D1B3E"/>
          </a:solidFill>
          <a:ln w="15875">
            <a:solidFill>
              <a:srgbClr val="D1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9E5A"/>
                </a:solidFill>
                <a:latin typeface="Calibri"/>
              </a:rPr>
              <a:t>M12 (Saat Ini)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D13333"/>
                </a:solidFill>
                <a:latin typeface="Calibri"/>
              </a:rPr>
              <a:t>•  </a:t>
            </a:r>
            <a:r>
              <a:rPr sz="1600">
                <a:solidFill>
                  <a:srgbClr val="FFFFFF"/>
                </a:solidFill>
                <a:latin typeface="Calibri"/>
              </a:rPr>
              <a:t>Port 2323 terbuka (Telnet — vektor Mirai)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13333"/>
                </a:solidFill>
                <a:latin typeface="Calibri"/>
              </a:rPr>
              <a:t>•  </a:t>
            </a:r>
            <a:r>
              <a:rPr sz="1600">
                <a:solidFill>
                  <a:srgbClr val="FFFFFF"/>
                </a:solidFill>
                <a:latin typeface="Calibri"/>
              </a:rPr>
              <a:t>Kredensial admin/admin BERHASIL (credcheck)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13333"/>
                </a:solidFill>
                <a:latin typeface="Calibri"/>
              </a:rPr>
              <a:t>•  </a:t>
            </a:r>
            <a:r>
              <a:rPr sz="1600">
                <a:solidFill>
                  <a:srgbClr val="FFFFFF"/>
                </a:solidFill>
                <a:latin typeface="Calibri"/>
              </a:rPr>
              <a:t>Dikenali: Kamera IP (vendor Hikvision)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13333"/>
                </a:solidFill>
                <a:latin typeface="Calibri"/>
              </a:rPr>
              <a:t>•  </a:t>
            </a:r>
            <a:r>
              <a:rPr sz="1600">
                <a:solidFill>
                  <a:srgbClr val="FFFFFF"/>
                </a:solidFill>
                <a:latin typeface="Calibri"/>
              </a:rPr>
              <a:t>HTTP tanpa header HSTS (tlscheck)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1645920"/>
          </a:xfrm>
          <a:prstGeom prst="roundRect">
            <a:avLst/>
          </a:prstGeom>
          <a:solidFill>
            <a:srgbClr val="D1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Hasil M12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KRITIS — skor 100 • I1/I2/I3/I9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Bukti empiris vektor serangan Mirai — persis sesuai teori pada Bab II paper.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Justifikasi: Mengapa Aplikasi Ini Perlu Ada?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33A45"/>
                </a:solidFill>
                <a:latin typeface="Calibri"/>
              </a:rPr>
              <a:t>"Bukankah sudah banyak alat serupa?" — Kontribusi bukan teknik scanning baru, melainkan INTEGRASI unik: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743200" cy="68580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1591056" cy="68580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15910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Open-
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920240"/>
            <a:ext cx="1591056" cy="68580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1920240"/>
            <a:ext cx="15910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Lokal
(no cloud)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1920240"/>
            <a:ext cx="1591056" cy="68580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920240"/>
            <a:ext cx="15910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Pemetaan
OWASP IoT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920240"/>
            <a:ext cx="1591056" cy="68580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20240"/>
            <a:ext cx="15910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Ramah
awam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38944" y="1920240"/>
            <a:ext cx="1591056" cy="68580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38944" y="1920240"/>
            <a:ext cx="15910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Bhs.
Indonesia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06040"/>
            <a:ext cx="2743200" cy="658368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33A45"/>
                </a:solidFill>
                <a:latin typeface="Calibri"/>
              </a:rPr>
              <a:t>Nmap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606040"/>
            <a:ext cx="1591056" cy="658368"/>
          </a:xfrm>
          <a:prstGeom prst="roundRect">
            <a:avLst/>
          </a:prstGeom>
          <a:solidFill>
            <a:srgbClr val="D6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06040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5776" y="2606040"/>
            <a:ext cx="1591056" cy="658368"/>
          </a:xfrm>
          <a:prstGeom prst="roundRect">
            <a:avLst/>
          </a:prstGeom>
          <a:solidFill>
            <a:srgbClr val="D6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2606040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6832" y="2606040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606040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606040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2606040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38944" y="2606040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8944" y="2606040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264408"/>
            <a:ext cx="2743200" cy="658368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264408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33A45"/>
                </a:solidFill>
                <a:latin typeface="Calibri"/>
              </a:rPr>
              <a:t>Nessus / OpenVAS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3264408"/>
            <a:ext cx="1591056" cy="658368"/>
          </a:xfrm>
          <a:prstGeom prst="roundRect">
            <a:avLst/>
          </a:prstGeom>
          <a:solidFill>
            <a:srgbClr val="FC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3264408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E08A1E"/>
                </a:solidFill>
                <a:latin typeface="Calibri"/>
              </a:rPr>
              <a:t>~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65776" y="3264408"/>
            <a:ext cx="1591056" cy="658368"/>
          </a:xfrm>
          <a:prstGeom prst="roundRect">
            <a:avLst/>
          </a:prstGeom>
          <a:solidFill>
            <a:srgbClr val="D6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65776" y="3264408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3264408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3264408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3264408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3264408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38944" y="3264408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38944" y="3264408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3922776"/>
            <a:ext cx="2743200" cy="658368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922776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33A45"/>
                </a:solidFill>
                <a:latin typeface="Calibri"/>
              </a:rPr>
              <a:t>Fing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3922776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3922776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65776" y="3922776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65776" y="3922776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56832" y="3922776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3922776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47888" y="3922776"/>
            <a:ext cx="1591056" cy="658368"/>
          </a:xfrm>
          <a:prstGeom prst="roundRect">
            <a:avLst/>
          </a:prstGeom>
          <a:solidFill>
            <a:srgbClr val="D6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7888" y="3922776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38944" y="3922776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38944" y="3922776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581144"/>
            <a:ext cx="2743200" cy="658368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58114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333A45"/>
                </a:solidFill>
                <a:latin typeface="Calibri"/>
              </a:rPr>
              <a:t>Bitdefender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74720" y="4581144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0" y="4581144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65776" y="4581144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65776" y="4581144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56832" y="4581144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56832" y="4581144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47888" y="4581144"/>
            <a:ext cx="1591056" cy="658368"/>
          </a:xfrm>
          <a:prstGeom prst="roundRect">
            <a:avLst/>
          </a:prstGeom>
          <a:solidFill>
            <a:srgbClr val="D6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7888" y="4581144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38944" y="4581144"/>
            <a:ext cx="1591056" cy="658368"/>
          </a:xfrm>
          <a:prstGeom prst="roundRect">
            <a:avLst/>
          </a:prstGeom>
          <a:solidFill>
            <a:srgbClr val="FB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38944" y="4581144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D13333"/>
                </a:solidFill>
                <a:latin typeface="Calibri"/>
              </a:rPr>
              <a:t>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5239512"/>
            <a:ext cx="2743200" cy="658368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239512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HomeGuard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74720" y="5239512"/>
            <a:ext cx="1591056" cy="658368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74720" y="5239512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65776" y="5239512"/>
            <a:ext cx="1591056" cy="658368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65776" y="5239512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656832" y="5239512"/>
            <a:ext cx="1591056" cy="658368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56832" y="5239512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47888" y="5239512"/>
            <a:ext cx="1591056" cy="658368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47888" y="5239512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838944" y="5239512"/>
            <a:ext cx="1591056" cy="658368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38944" y="5239512"/>
            <a:ext cx="159105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9E5A"/>
                </a:solidFill>
                <a:latin typeface="Calibr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9E5A"/>
                </a:solidFill>
                <a:latin typeface="Calibri"/>
              </a:rPr>
              <a:t>HomeGuard = satu-satunya yang memenuhi kelima kriteria sekaligus.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Pengujian &amp; Jaminan Kualitas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Unit test
(semua lulus)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63040"/>
            <a:ext cx="2560320" cy="1828800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69164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26060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Versi Python
(3.9 – 3.12)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2560320" cy="182880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69164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6060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Modul Python
teruji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63040"/>
            <a:ext cx="2560320" cy="182880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69164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~2.287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060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Baris kode
inti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33A45"/>
                </a:solidFill>
                <a:latin typeface="Calibri"/>
              </a:rPr>
              <a:t>Cakupan pengujian per modul: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2E86D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discovery, portscan, vulnmap, scanner — alur pipeline inti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86D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classify (tipe perangkat) &amp; tlscheck (TLS/cipher/header) — modul lanjutan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86D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GitHub Actions CI menjalankan seluruh tes otomatis tiap perubahan kode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E86D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Demo aman: python demo_lokal.py — tanpa jaringan nyata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 Langsung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DF0"/>
                </a:solidFill>
                <a:latin typeface="Calibri"/>
              </a:rPr>
              <a:t>Tiga cara membuktikan aplikasi bekerja: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9E5A"/>
                </a:solidFill>
                <a:latin typeface="Calibri"/>
              </a:rPr>
              <a:t>Demo aman (tanpa jaringan nyata)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0698480" cy="548640"/>
          </a:xfrm>
          <a:prstGeom prst="roundRect">
            <a:avLst/>
          </a:prstGeom>
          <a:solidFill>
            <a:srgbClr val="05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6FE39F"/>
                </a:solidFill>
                <a:latin typeface="Consolas"/>
              </a:rPr>
              <a:t>$ python demo_lokal.py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7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9E5A"/>
                </a:solidFill>
                <a:latin typeface="Calibri"/>
              </a:rPr>
              <a:t>Antarmuka web interaktif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7"/>
            <a:ext cx="10698480" cy="548640"/>
          </a:xfrm>
          <a:prstGeom prst="roundRect">
            <a:avLst/>
          </a:prstGeom>
          <a:solidFill>
            <a:srgbClr val="05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38727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6FE39F"/>
                </a:solidFill>
                <a:latin typeface="Consolas"/>
              </a:rPr>
              <a:t>$ streamlit run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9E5A"/>
                </a:solidFill>
                <a:latin typeface="Calibri"/>
              </a:rPr>
              <a:t>Pindai dari terminal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90288"/>
            <a:ext cx="10698480" cy="548640"/>
          </a:xfrm>
          <a:prstGeom prst="roundRect">
            <a:avLst/>
          </a:prstGeom>
          <a:solidFill>
            <a:srgbClr val="05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6FE39F"/>
                </a:solidFill>
                <a:latin typeface="Consolas"/>
              </a:rPr>
              <a:t>$ python cli.py --subnet 192.168.1.0/24 --check-creds --tls --pdf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9E5A"/>
                </a:solidFill>
                <a:latin typeface="Calibri"/>
              </a:rPr>
              <a:t>Lihat referensi OWASP IoT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41848"/>
            <a:ext cx="10698480" cy="548640"/>
          </a:xfrm>
          <a:prstGeom prst="roundRect">
            <a:avLst/>
          </a:prstGeom>
          <a:solidFill>
            <a:srgbClr val="05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41848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6FE39F"/>
                </a:solidFill>
                <a:latin typeface="Consolas"/>
              </a:rPr>
              <a:t>$ python cli.py --owasp-ref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60120"/>
            <a:ext cx="12191695" cy="54864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Kesimpulan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6459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9FB3D1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9E5A"/>
                </a:solidFill>
                <a:latin typeface="Calibri"/>
              </a:rPr>
              <a:t>Kesimpulan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A9E5A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Prototipe HomeGuard berhasil dibangun sesuai rancangan paper (pipeline 4 modul)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9E5A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Memetakan kerentanan IoT ke OWASP IoT Top 10 dengan skor risiko yang mudah dipahami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9E5A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Berjalan lokal, tanpa root, tanpa dependensi wajib — ramah pengguna awam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A9E5A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Terbukti mendeteksi vektor serangan nyata (mis. Mirai) secara empiris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08A1E"/>
                </a:solidFill>
                <a:latin typeface="Calibri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08A1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Korelasi versi komponen → CVE nyata via NVD API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08A1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Pengujian dunia nyata pada jaringan rumah + isi tabel hasil paper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08A1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Screenshot antarmuka Streamlit untuk lampiran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08A1E"/>
                </a:solidFill>
                <a:latin typeface="Calibri"/>
              </a:rPr>
              <a:t>•  </a:t>
            </a:r>
            <a:r>
              <a:rPr sz="1700">
                <a:solidFill>
                  <a:srgbClr val="333A45"/>
                </a:solidFill>
                <a:latin typeface="Calibri"/>
              </a:rPr>
              <a:t>Dukungan IPv6 &amp; packaging (pyproject.toml)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0"/>
            <a:ext cx="12191695" cy="73152"/>
          </a:xfrm>
          <a:prstGeom prst="roundRect">
            <a:avLst/>
          </a:prstGeom>
          <a:solidFill>
            <a:srgbClr val="1A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1A9E5A"/>
                </a:solidFill>
                <a:latin typeface="Calibri"/>
              </a:rPr>
              <a:t>Diskusi &amp;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9FB3D1"/>
                </a:solidFill>
                <a:latin typeface="Calibri"/>
              </a:rPr>
              <a:t>Reiza Gerrard Rizki Ramadhan  •  Politeknik Siber dan Sandi Negara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6B7A95"/>
                </a:solidFill>
                <a:latin typeface="Calibri"/>
              </a:rPr>
              <a:t>HomeGuard — Pemindai Keamanan IoT Berbasis OWASP IoT Top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